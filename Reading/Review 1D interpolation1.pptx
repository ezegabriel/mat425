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7FE5E6-1D43-4D1A-A99B-A6A1A8E2533C}">
  <a:tblStyle styleId="{437FE5E6-1D43-4D1A-A99B-A6A1A8E253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a33fafb2c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a33fafb2c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a33fafb2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a33fafb2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a33fafb2c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a33fafb2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a37370fd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a37370fd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a37370f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a37370f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express the nth interpolating polynomial as this Pn(x) where are a’s are constants that we need to determine using divided difference methods.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a37370fd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a37370fd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a37370fd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a37370fd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a37370fd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a37370fd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3a37370f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3a37370f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</a:t>
            </a:r>
            <a:r>
              <a:rPr lang="en"/>
              <a:t> why cubic is better than linear and quadratic.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a37370fd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3a37370fd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a)  defines each Sj(x). b) interpolated curve should go through the given data points. c) follows from b saying cubic polynomials should meet at same point. d) 1st derivatives equal. e)second derivatives equal. f) endpoint boundaries.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a37370fd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3a37370fd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 through example problem explaining setting up the system of equations to solve for </a:t>
            </a:r>
            <a:r>
              <a:rPr lang="en"/>
              <a:t>coefficients</a:t>
            </a:r>
            <a:r>
              <a:rPr lang="en"/>
              <a:t>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a37370fd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a37370fd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Concepts &amp; Examples: Lagrange, Divided Difference, and Cubic Spline Interpolations</a:t>
            </a:r>
            <a:endParaRPr sz="4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Gabe and Ben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&amp; Similarities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be discussing some 1-D interpolation methods with some pros and cons: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Lagrange interpolation is suitable for small datasets, where analytically the interpolant function can closely mimic the true, </a:t>
            </a:r>
            <a:r>
              <a:rPr lang="en"/>
              <a:t>unknown</a:t>
            </a:r>
            <a:r>
              <a:rPr lang="en"/>
              <a:t> function.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Newton’s DD is an extension to the method above to increase precision. This works well with more unstructured datasets to iteratively compute parameters.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Cubic splines is more applicable to continuous dataset with higher uncertainty. Uses pairwise splines to map plausible function values at each interval.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Downsides to these techniques is that it doesn’t make good predictions on large datasets as these methods are </a:t>
            </a:r>
            <a:r>
              <a:rPr lang="en"/>
              <a:t>heavily</a:t>
            </a:r>
            <a:r>
              <a:rPr lang="en"/>
              <a:t> data dependent – Only taking into account subtle magnitude &amp; gradient differences.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Lagrange Interpolation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93825"/>
            <a:ext cx="8520600" cy="393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polynomial is constructed through a linear combination of Kronecker Delta functions with the function values at each point.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Assume you have a vector of your x values, the Kronecker Delta function is defined by a quotient in respect to the dependent variable at the function node. This quotient is a ratio on the product of the differences between non-target x values and target x value. Given this is a function, only the denominator holds a numeric value while the numerator is in terms of the dependent variable at node.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Examples: estimating population census data, tracking athletes cartesian </a:t>
            </a:r>
            <a:r>
              <a:rPr lang="en"/>
              <a:t>coordinates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53101" l="0" r="0" t="35763"/>
          <a:stretch/>
        </p:blipFill>
        <p:spPr>
          <a:xfrm>
            <a:off x="570700" y="1807275"/>
            <a:ext cx="7519273" cy="764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38237" l="0" r="0" t="52714"/>
          <a:stretch/>
        </p:blipFill>
        <p:spPr>
          <a:xfrm>
            <a:off x="311700" y="2615250"/>
            <a:ext cx="7875100" cy="65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10603" l="0" r="0" t="60854"/>
          <a:stretch/>
        </p:blipFill>
        <p:spPr>
          <a:xfrm>
            <a:off x="570700" y="3143075"/>
            <a:ext cx="7675850" cy="20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 rotWithShape="1">
          <a:blip r:embed="rId4">
            <a:alphaModFix/>
          </a:blip>
          <a:srcRect b="70799" l="0" r="0" t="5776"/>
          <a:stretch/>
        </p:blipFill>
        <p:spPr>
          <a:xfrm>
            <a:off x="161525" y="341525"/>
            <a:ext cx="8175425" cy="168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013" y="445025"/>
            <a:ext cx="4503975" cy="377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Newton’s Divided Difference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847675"/>
            <a:ext cx="8520600" cy="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Divided differences is a more structured and recursive way to compute polynomials when getting additional data points.  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38" y="1499875"/>
            <a:ext cx="8244732" cy="7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74925" y="2914837"/>
            <a:ext cx="58764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2025" y="3516375"/>
            <a:ext cx="5743501" cy="16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536650" y="2232875"/>
            <a:ext cx="83496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Evaluating at x0 and x1 give us the following a terms which we can rewrite in divided difference notation.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6">
            <a:alphaModFix/>
          </a:blip>
          <a:srcRect b="0" l="36366" r="30373" t="0"/>
          <a:stretch/>
        </p:blipFill>
        <p:spPr>
          <a:xfrm>
            <a:off x="5496300" y="2881775"/>
            <a:ext cx="2389675" cy="70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7">
            <a:alphaModFix/>
          </a:blip>
          <a:srcRect b="0" l="33497" r="13575" t="0"/>
          <a:stretch/>
        </p:blipFill>
        <p:spPr>
          <a:xfrm>
            <a:off x="4920850" y="3907168"/>
            <a:ext cx="4223150" cy="110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Divided Differences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5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nth divided difference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15218" r="0" t="0"/>
          <a:stretch/>
        </p:blipFill>
        <p:spPr>
          <a:xfrm>
            <a:off x="2656501" y="901025"/>
            <a:ext cx="6487500" cy="10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825" y="1908825"/>
            <a:ext cx="7223150" cy="307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44325" y="2747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Divided Difference (ex.)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279075" y="950738"/>
            <a:ext cx="85206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(0,1), (1,0.5), (3,4)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9" name="Google Shape;109;p20"/>
          <p:cNvGraphicFramePr/>
          <p:nvPr/>
        </p:nvGraphicFramePr>
        <p:xfrm>
          <a:off x="919875" y="1878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{437FE5E6-1D43-4D1A-A99B-A6A1A8E2533C}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f(x)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1st DD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2nd DD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3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43658" l="6802" r="43724" t="0"/>
          <a:stretch/>
        </p:blipFill>
        <p:spPr>
          <a:xfrm>
            <a:off x="306825" y="1329225"/>
            <a:ext cx="4523675" cy="47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 rotWithShape="1">
          <a:blip r:embed="rId4">
            <a:alphaModFix/>
          </a:blip>
          <a:srcRect b="37602" l="7205" r="33974" t="30099"/>
          <a:stretch/>
        </p:blipFill>
        <p:spPr>
          <a:xfrm>
            <a:off x="208776" y="3723275"/>
            <a:ext cx="5378551" cy="33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 rotWithShape="1">
          <a:blip r:embed="rId4">
            <a:alphaModFix/>
          </a:blip>
          <a:srcRect b="30687" l="65668" r="0" t="32183"/>
          <a:stretch/>
        </p:blipFill>
        <p:spPr>
          <a:xfrm>
            <a:off x="1067824" y="4125675"/>
            <a:ext cx="3139275" cy="38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 rotWithShape="1">
          <a:blip r:embed="rId4">
            <a:alphaModFix/>
          </a:blip>
          <a:srcRect b="0" l="499" r="74408" t="54644"/>
          <a:stretch/>
        </p:blipFill>
        <p:spPr>
          <a:xfrm>
            <a:off x="643750" y="4494775"/>
            <a:ext cx="2294451" cy="4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9978" y="537200"/>
            <a:ext cx="4644050" cy="370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Cubic Splines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641150"/>
            <a:ext cx="85206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Given a set of data points, a cubic spline interpolant is a piecewise cubic function that passes through the given points while maintaining </a:t>
            </a:r>
            <a:r>
              <a:rPr lang="en"/>
              <a:t>continuous</a:t>
            </a:r>
            <a:r>
              <a:rPr lang="en"/>
              <a:t> first and second derivatives.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438" y="1816638"/>
            <a:ext cx="7781925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Cubic Splines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Given a function defined on [a, b] and a set of nodes a = x0 &lt; x1 &lt; …&lt; xn = b, a cubic spline interpolant S for is a function that satisfies the following conditions:</a:t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875" y="1950775"/>
            <a:ext cx="6457425" cy="28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71373" l="0" r="0" t="0"/>
          <a:stretch/>
        </p:blipFill>
        <p:spPr>
          <a:xfrm>
            <a:off x="0" y="0"/>
            <a:ext cx="6410051" cy="147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/>
          <p:cNvPicPr preferRelativeResize="0"/>
          <p:nvPr/>
        </p:nvPicPr>
        <p:blipFill rotWithShape="1">
          <a:blip r:embed="rId3">
            <a:alphaModFix/>
          </a:blip>
          <a:srcRect b="42506" l="0" r="0" t="28130"/>
          <a:stretch/>
        </p:blipFill>
        <p:spPr>
          <a:xfrm>
            <a:off x="172225" y="1527825"/>
            <a:ext cx="6872074" cy="1619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 rotWithShape="1">
          <a:blip r:embed="rId3">
            <a:alphaModFix/>
          </a:blip>
          <a:srcRect b="25620" l="0" r="0" t="55767"/>
          <a:stretch/>
        </p:blipFill>
        <p:spPr>
          <a:xfrm>
            <a:off x="40550" y="3146999"/>
            <a:ext cx="7135437" cy="106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 rotWithShape="1">
          <a:blip r:embed="rId3">
            <a:alphaModFix/>
          </a:blip>
          <a:srcRect b="9217" l="0" r="0" t="73869"/>
          <a:stretch/>
        </p:blipFill>
        <p:spPr>
          <a:xfrm>
            <a:off x="40550" y="4114825"/>
            <a:ext cx="7231151" cy="981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/>
          <p:nvPr/>
        </p:nvPicPr>
        <p:blipFill rotWithShape="1">
          <a:blip r:embed="rId4">
            <a:alphaModFix/>
          </a:blip>
          <a:srcRect b="60586" l="0" r="56653" t="0"/>
          <a:stretch/>
        </p:blipFill>
        <p:spPr>
          <a:xfrm>
            <a:off x="5514107" y="4050775"/>
            <a:ext cx="2980817" cy="233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5350" y="4349875"/>
            <a:ext cx="4748650" cy="41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8241" y="374078"/>
            <a:ext cx="4867525" cy="388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