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Old Standard TT"/>
      <p:regular r:id="rId16"/>
      <p:bold r:id="rId17"/>
      <p: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bold.fntdata"/><Relationship Id="rId16" Type="http://schemas.openxmlformats.org/officeDocument/2006/relationships/font" Target="fonts/OldStandardTT-regular.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ldStandardTT-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397b9fed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397b9fed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397b9fed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397b9fed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3b77b7256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3b77b7256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an example of the finite element method used to solve a magnetism problem. On the left, we have a mesh to represent the problem. Each color represents a different physical element of the problem; the red is a conducting wire coil, the blue is a magnetic iron cylinder, and the gray is air. Each triangle is a different element of the discrete domain. The elements are more concentrated in and around the area representing the iron. This allows for a more accurate solution in that area, while not wasting resources on less important areas.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we see the solution to this problem. The colors here the colors represent the strength of the applied magnetism, where red is the strongest. The lines, rather than representing the mesh, represent the magnetic flux. By using the finite element method, researchers were able to solve the partial differential equations to find that the iron cylinder is absorbing the magnetic flux, leaving the space behind the iron unmagnetized.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3b77b7256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3b77b7256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an example of the finite element method used to solve a magnetism problem. On the left, we have a mesh to represent the problem. Each color represents a different physical element of the problem; the red is a conducting wire coil, the blue is a magnetic iron cylinder, and the gray is air. Each triangle is a different element of the discrete domain. The elements are more concentrated in and around the area representing the iron. This allows for a more accurate solution in that area, while not wasting resources with an accurate solution in the areas found to be less important.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we see the solution to this problem. The colors here the colors represent the strength of the applied magnetism, where red is the strongest. The lines, rather than representing the mesh, represent the magnetic flux. By using the finite element method, researchers were able to solve the partial differential equations to find that the iron cylinder is absorbing the magnetic flux, leaving the space behind the iron unmagnetized.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97b9fed8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97b9fed8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b77b72567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b77b72567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397b9fed8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397b9fed8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3b77b72567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3b77b72567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3b77b72567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3b77b72567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pre-scient.com/knowledge-center/product-development-by-reverse-engineering/meshing-algorithms/" TargetMode="External"/><Relationship Id="rId4" Type="http://schemas.openxmlformats.org/officeDocument/2006/relationships/hyperlink" Target="https://www.comsol.com/multiphysics/finite-element-method" TargetMode="External"/><Relationship Id="rId5" Type="http://schemas.openxmlformats.org/officeDocument/2006/relationships/hyperlink" Target="https://e6.ijs.si/~roman/files/tmp/GR.Liu_meshfree/Meshfree-G.R.LIU.pdf" TargetMode="External"/><Relationship Id="rId6" Type="http://schemas.openxmlformats.org/officeDocument/2006/relationships/hyperlink" Target="https://personal.ems.psu.edu/~fkd/courses/EGEE520/2017Deliverables/SPH_2017.pdf" TargetMode="External"/><Relationship Id="rId7" Type="http://schemas.openxmlformats.org/officeDocument/2006/relationships/hyperlink" Target="https://personal.ems.psu.edu/~fkd/courses/EGEE520/2017Deliverables/SPH_2017.pdf" TargetMode="External"/><Relationship Id="rId8" Type="http://schemas.openxmlformats.org/officeDocument/2006/relationships/hyperlink" Target="https://ww2.lacan.upc.edu/scientificPublications/files/pdfs/2004-TECM-HBFR-blanc.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Mesh &amp; Mesh-Free Numeric Methods</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Megan Ewing &amp; Noah Calhoun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mesh?</a:t>
            </a:r>
            <a:endParaRPr/>
          </a:p>
        </p:txBody>
      </p:sp>
      <p:sp>
        <p:nvSpPr>
          <p:cNvPr id="66" name="Google Shape;66;p14"/>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mesh is a way to represent a structure using discrete units</a:t>
            </a:r>
            <a:endParaRPr/>
          </a:p>
          <a:p>
            <a:pPr indent="-342900" lvl="0" marL="457200" rtl="0" algn="l">
              <a:spcBef>
                <a:spcPts val="0"/>
              </a:spcBef>
              <a:spcAft>
                <a:spcPts val="0"/>
              </a:spcAft>
              <a:buSzPts val="1800"/>
              <a:buChar char="●"/>
            </a:pPr>
            <a:r>
              <a:rPr lang="en"/>
              <a:t>It allows us to break a complicated 3d shape into simpler components for analysis and calculation</a:t>
            </a:r>
            <a:endParaRPr/>
          </a:p>
          <a:p>
            <a:pPr indent="-342900" lvl="0" marL="457200" rtl="0" algn="l">
              <a:spcBef>
                <a:spcPts val="0"/>
              </a:spcBef>
              <a:spcAft>
                <a:spcPts val="0"/>
              </a:spcAft>
              <a:buSzPts val="1800"/>
              <a:buChar char="●"/>
            </a:pPr>
            <a:r>
              <a:rPr lang="en"/>
              <a:t>Partitions a space into portions which can be solved over individually</a:t>
            </a:r>
            <a:endParaRPr/>
          </a:p>
        </p:txBody>
      </p:sp>
      <p:grpSp>
        <p:nvGrpSpPr>
          <p:cNvPr id="67" name="Google Shape;67;p14"/>
          <p:cNvGrpSpPr/>
          <p:nvPr/>
        </p:nvGrpSpPr>
        <p:grpSpPr>
          <a:xfrm>
            <a:off x="4775327" y="156389"/>
            <a:ext cx="2263506" cy="2103738"/>
            <a:chOff x="5962375" y="445025"/>
            <a:chExt cx="2679974" cy="2457925"/>
          </a:xfrm>
        </p:grpSpPr>
        <p:pic>
          <p:nvPicPr>
            <p:cNvPr id="68" name="Google Shape;68;p14"/>
            <p:cNvPicPr preferRelativeResize="0"/>
            <p:nvPr/>
          </p:nvPicPr>
          <p:blipFill rotWithShape="1">
            <a:blip r:embed="rId3">
              <a:alphaModFix/>
            </a:blip>
            <a:srcRect b="14148" l="75972" r="0" t="0"/>
            <a:stretch/>
          </p:blipFill>
          <p:spPr>
            <a:xfrm>
              <a:off x="5962375" y="445025"/>
              <a:ext cx="2679923" cy="2297925"/>
            </a:xfrm>
            <a:prstGeom prst="rect">
              <a:avLst/>
            </a:prstGeom>
            <a:noFill/>
            <a:ln>
              <a:noFill/>
            </a:ln>
          </p:spPr>
        </p:pic>
        <p:sp>
          <p:nvSpPr>
            <p:cNvPr id="69" name="Google Shape;69;p14"/>
            <p:cNvSpPr txBox="1"/>
            <p:nvPr/>
          </p:nvSpPr>
          <p:spPr>
            <a:xfrm>
              <a:off x="6183249" y="2571750"/>
              <a:ext cx="24591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700">
                  <a:solidFill>
                    <a:schemeClr val="dk1"/>
                  </a:solidFill>
                  <a:latin typeface="Old Standard TT"/>
                  <a:ea typeface="Old Standard TT"/>
                  <a:cs typeface="Old Standard TT"/>
                  <a:sym typeface="Old Standard TT"/>
                </a:rPr>
                <a:t>https://commons.wikimedia.org/wiki/File:Properties_of_a_polygon_mesh.svg</a:t>
              </a:r>
              <a:endParaRPr sz="700">
                <a:solidFill>
                  <a:schemeClr val="dk1"/>
                </a:solidFill>
                <a:latin typeface="Old Standard TT"/>
                <a:ea typeface="Old Standard TT"/>
                <a:cs typeface="Old Standard TT"/>
                <a:sym typeface="Old Standard TT"/>
              </a:endParaRPr>
            </a:p>
          </p:txBody>
        </p:sp>
      </p:grpSp>
      <p:pic>
        <p:nvPicPr>
          <p:cNvPr id="70" name="Google Shape;70;p14"/>
          <p:cNvPicPr preferRelativeResize="0"/>
          <p:nvPr/>
        </p:nvPicPr>
        <p:blipFill rotWithShape="1">
          <a:blip r:embed="rId4">
            <a:alphaModFix/>
          </a:blip>
          <a:srcRect b="11153" l="10946" r="29656" t="29615"/>
          <a:stretch/>
        </p:blipFill>
        <p:spPr>
          <a:xfrm>
            <a:off x="4922675" y="2571750"/>
            <a:ext cx="2723549" cy="16337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Mesh Method: Finite Element Method</a:t>
            </a:r>
            <a:endParaRPr/>
          </a:p>
        </p:txBody>
      </p:sp>
      <p:sp>
        <p:nvSpPr>
          <p:cNvPr id="76" name="Google Shape;76;p15"/>
          <p:cNvSpPr txBox="1"/>
          <p:nvPr>
            <p:ph idx="1" type="body"/>
          </p:nvPr>
        </p:nvSpPr>
        <p:spPr>
          <a:xfrm>
            <a:off x="311700" y="1171600"/>
            <a:ext cx="43494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Engineering problems like structural analysis, heat </a:t>
            </a:r>
            <a:r>
              <a:rPr lang="en"/>
              <a:t>transfer</a:t>
            </a:r>
            <a:r>
              <a:rPr lang="en"/>
              <a:t>, and fluid flow</a:t>
            </a:r>
            <a:endParaRPr/>
          </a:p>
          <a:p>
            <a:pPr indent="-342900" lvl="0" marL="457200" rtl="0" algn="l">
              <a:spcBef>
                <a:spcPts val="0"/>
              </a:spcBef>
              <a:spcAft>
                <a:spcPts val="0"/>
              </a:spcAft>
              <a:buSzPts val="1800"/>
              <a:buChar char="●"/>
            </a:pPr>
            <a:r>
              <a:rPr lang="en"/>
              <a:t>Solving partial differential equations of 2 or more variables</a:t>
            </a:r>
            <a:endParaRPr/>
          </a:p>
          <a:p>
            <a:pPr indent="-342900" lvl="0" marL="457200" rtl="0" algn="l">
              <a:spcBef>
                <a:spcPts val="0"/>
              </a:spcBef>
              <a:spcAft>
                <a:spcPts val="0"/>
              </a:spcAft>
              <a:buSzPts val="1800"/>
              <a:buChar char="●"/>
            </a:pPr>
            <a:r>
              <a:rPr lang="en"/>
              <a:t>Breaks the system in to smaller, simpler parts called finite elements</a:t>
            </a:r>
            <a:endParaRPr/>
          </a:p>
          <a:p>
            <a:pPr indent="-317500" lvl="1" marL="914400" rtl="0" algn="l">
              <a:spcBef>
                <a:spcPts val="0"/>
              </a:spcBef>
              <a:spcAft>
                <a:spcPts val="0"/>
              </a:spcAft>
              <a:buSzPts val="1400"/>
              <a:buChar char="○"/>
            </a:pPr>
            <a:r>
              <a:rPr lang="en"/>
              <a:t>This is a mesh of the object!!</a:t>
            </a:r>
            <a:endParaRPr/>
          </a:p>
          <a:p>
            <a:pPr indent="-342900" lvl="0" marL="457200" rtl="0" algn="l">
              <a:spcBef>
                <a:spcPts val="0"/>
              </a:spcBef>
              <a:spcAft>
                <a:spcPts val="0"/>
              </a:spcAft>
              <a:buSzPts val="1800"/>
              <a:buChar char="●"/>
            </a:pPr>
            <a:r>
              <a:rPr lang="en"/>
              <a:t>Each element has an equation</a:t>
            </a:r>
            <a:endParaRPr/>
          </a:p>
          <a:p>
            <a:pPr indent="-342900" lvl="0" marL="457200" rtl="0" algn="l">
              <a:spcBef>
                <a:spcPts val="0"/>
              </a:spcBef>
              <a:spcAft>
                <a:spcPts val="0"/>
              </a:spcAft>
              <a:buSzPts val="1800"/>
              <a:buChar char="●"/>
            </a:pPr>
            <a:r>
              <a:rPr lang="en"/>
              <a:t>Recombine all the element equations into a global system for the solution</a:t>
            </a:r>
            <a:endParaRPr/>
          </a:p>
        </p:txBody>
      </p:sp>
      <p:grpSp>
        <p:nvGrpSpPr>
          <p:cNvPr id="77" name="Google Shape;77;p15"/>
          <p:cNvGrpSpPr/>
          <p:nvPr/>
        </p:nvGrpSpPr>
        <p:grpSpPr>
          <a:xfrm>
            <a:off x="5235364" y="1530653"/>
            <a:ext cx="3647391" cy="2082186"/>
            <a:chOff x="5267763" y="1349850"/>
            <a:chExt cx="3569225" cy="2008475"/>
          </a:xfrm>
        </p:grpSpPr>
        <p:pic>
          <p:nvPicPr>
            <p:cNvPr id="78" name="Google Shape;78;p15"/>
            <p:cNvPicPr preferRelativeResize="0"/>
            <p:nvPr/>
          </p:nvPicPr>
          <p:blipFill>
            <a:blip r:embed="rId3">
              <a:alphaModFix/>
            </a:blip>
            <a:stretch>
              <a:fillRect/>
            </a:stretch>
          </p:blipFill>
          <p:spPr>
            <a:xfrm>
              <a:off x="5267763" y="1349850"/>
              <a:ext cx="3569225" cy="1741775"/>
            </a:xfrm>
            <a:prstGeom prst="rect">
              <a:avLst/>
            </a:prstGeom>
            <a:noFill/>
            <a:ln>
              <a:noFill/>
            </a:ln>
          </p:spPr>
        </p:pic>
        <p:sp>
          <p:nvSpPr>
            <p:cNvPr id="79" name="Google Shape;79;p15"/>
            <p:cNvSpPr txBox="1"/>
            <p:nvPr/>
          </p:nvSpPr>
          <p:spPr>
            <a:xfrm>
              <a:off x="5272325" y="3091625"/>
              <a:ext cx="3560100" cy="26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1"/>
                  </a:solidFill>
                  <a:latin typeface="Old Standard TT"/>
                  <a:ea typeface="Old Standard TT"/>
                  <a:cs typeface="Old Standard TT"/>
                  <a:sym typeface="Old Standard TT"/>
                </a:rPr>
                <a:t>https://learnfea.com/the_finite_element_method_for_linear_structural_analysis/</a:t>
              </a:r>
              <a:endParaRPr sz="800">
                <a:solidFill>
                  <a:schemeClr val="dk1"/>
                </a:solidFill>
                <a:latin typeface="Old Standard TT"/>
                <a:ea typeface="Old Standard TT"/>
                <a:cs typeface="Old Standard TT"/>
                <a:sym typeface="Old Standard TT"/>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Finite Element Method Example</a:t>
            </a:r>
            <a:endParaRPr/>
          </a:p>
        </p:txBody>
      </p:sp>
      <p:pic>
        <p:nvPicPr>
          <p:cNvPr id="85" name="Google Shape;85;p16"/>
          <p:cNvPicPr preferRelativeResize="0"/>
          <p:nvPr/>
        </p:nvPicPr>
        <p:blipFill>
          <a:blip r:embed="rId3">
            <a:alphaModFix/>
          </a:blip>
          <a:stretch>
            <a:fillRect/>
          </a:stretch>
        </p:blipFill>
        <p:spPr>
          <a:xfrm>
            <a:off x="838827" y="1143145"/>
            <a:ext cx="3196450" cy="2919417"/>
          </a:xfrm>
          <a:prstGeom prst="rect">
            <a:avLst/>
          </a:prstGeom>
          <a:noFill/>
          <a:ln>
            <a:noFill/>
          </a:ln>
        </p:spPr>
      </p:pic>
      <p:pic>
        <p:nvPicPr>
          <p:cNvPr id="86" name="Google Shape;86;p16"/>
          <p:cNvPicPr preferRelativeResize="0"/>
          <p:nvPr/>
        </p:nvPicPr>
        <p:blipFill>
          <a:blip r:embed="rId4">
            <a:alphaModFix/>
          </a:blip>
          <a:stretch>
            <a:fillRect/>
          </a:stretch>
        </p:blipFill>
        <p:spPr>
          <a:xfrm>
            <a:off x="5159862" y="1142301"/>
            <a:ext cx="3196425" cy="2921100"/>
          </a:xfrm>
          <a:prstGeom prst="rect">
            <a:avLst/>
          </a:prstGeom>
          <a:noFill/>
          <a:ln>
            <a:noFill/>
          </a:ln>
        </p:spPr>
      </p:pic>
      <p:sp>
        <p:nvSpPr>
          <p:cNvPr id="87" name="Google Shape;87;p16"/>
          <p:cNvSpPr txBox="1"/>
          <p:nvPr/>
        </p:nvSpPr>
        <p:spPr>
          <a:xfrm>
            <a:off x="1016388" y="4063400"/>
            <a:ext cx="2841300" cy="75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ld Standard TT"/>
                <a:ea typeface="Old Standard TT"/>
                <a:cs typeface="Old Standard TT"/>
                <a:sym typeface="Old Standard TT"/>
              </a:rPr>
              <a:t>FEM mesh of magnetism problem: Color represents material,</a:t>
            </a:r>
            <a:endParaRPr>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en">
                <a:solidFill>
                  <a:schemeClr val="dk1"/>
                </a:solidFill>
                <a:latin typeface="Old Standard TT"/>
                <a:ea typeface="Old Standard TT"/>
                <a:cs typeface="Old Standard TT"/>
                <a:sym typeface="Old Standard TT"/>
              </a:rPr>
              <a:t>Shapes are elements</a:t>
            </a:r>
            <a:endParaRPr>
              <a:solidFill>
                <a:schemeClr val="dk1"/>
              </a:solidFill>
              <a:latin typeface="Old Standard TT"/>
              <a:ea typeface="Old Standard TT"/>
              <a:cs typeface="Old Standard TT"/>
              <a:sym typeface="Old Standard TT"/>
            </a:endParaRPr>
          </a:p>
        </p:txBody>
      </p:sp>
      <p:sp>
        <p:nvSpPr>
          <p:cNvPr id="88" name="Google Shape;88;p16"/>
          <p:cNvSpPr txBox="1"/>
          <p:nvPr/>
        </p:nvSpPr>
        <p:spPr>
          <a:xfrm>
            <a:off x="5222975" y="4063400"/>
            <a:ext cx="3070200" cy="75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Old Standard TT"/>
                <a:ea typeface="Old Standard TT"/>
                <a:cs typeface="Old Standard TT"/>
                <a:sym typeface="Old Standard TT"/>
              </a:rPr>
              <a:t>FEM solution to magnetism problem:</a:t>
            </a:r>
            <a:endParaRPr>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en">
                <a:solidFill>
                  <a:schemeClr val="dk1"/>
                </a:solidFill>
                <a:latin typeface="Old Standard TT"/>
                <a:ea typeface="Old Standard TT"/>
                <a:cs typeface="Old Standard TT"/>
                <a:sym typeface="Old Standard TT"/>
              </a:rPr>
              <a:t>Color represents magnetism,</a:t>
            </a:r>
            <a:endParaRPr>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en">
                <a:solidFill>
                  <a:schemeClr val="dk1"/>
                </a:solidFill>
                <a:latin typeface="Old Standard TT"/>
                <a:ea typeface="Old Standard TT"/>
                <a:cs typeface="Old Standard TT"/>
                <a:sym typeface="Old Standard TT"/>
              </a:rPr>
              <a:t>Lines are magnetic flux</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Finite Element Method Advantages</a:t>
            </a:r>
            <a:endParaRPr/>
          </a:p>
        </p:txBody>
      </p:sp>
      <p:sp>
        <p:nvSpPr>
          <p:cNvPr id="94" name="Google Shape;94;p17"/>
          <p:cNvSpPr txBox="1"/>
          <p:nvPr/>
        </p:nvSpPr>
        <p:spPr>
          <a:xfrm>
            <a:off x="445850" y="1058225"/>
            <a:ext cx="4711800" cy="2229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Accurately represents complex geometry</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Includes properties of different materials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Easily represents the whole </a:t>
            </a:r>
            <a:r>
              <a:rPr lang="en" sz="1800">
                <a:solidFill>
                  <a:schemeClr val="dk1"/>
                </a:solidFill>
                <a:latin typeface="Old Standard TT"/>
                <a:ea typeface="Old Standard TT"/>
                <a:cs typeface="Old Standard TT"/>
                <a:sym typeface="Old Standard TT"/>
              </a:rPr>
              <a:t>solution</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Allows capture of most important effects</a:t>
            </a:r>
            <a:endParaRPr sz="1800">
              <a:solidFill>
                <a:schemeClr val="dk1"/>
              </a:solidFill>
              <a:latin typeface="Old Standard TT"/>
              <a:ea typeface="Old Standard TT"/>
              <a:cs typeface="Old Standard TT"/>
              <a:sym typeface="Old Standard TT"/>
            </a:endParaRPr>
          </a:p>
        </p:txBody>
      </p:sp>
      <p:pic>
        <p:nvPicPr>
          <p:cNvPr id="95" name="Google Shape;95;p17"/>
          <p:cNvPicPr preferRelativeResize="0"/>
          <p:nvPr/>
        </p:nvPicPr>
        <p:blipFill>
          <a:blip r:embed="rId3">
            <a:alphaModFix/>
          </a:blip>
          <a:stretch>
            <a:fillRect/>
          </a:stretch>
        </p:blipFill>
        <p:spPr>
          <a:xfrm>
            <a:off x="5471413" y="2260875"/>
            <a:ext cx="3212575" cy="1888649"/>
          </a:xfrm>
          <a:prstGeom prst="rect">
            <a:avLst/>
          </a:prstGeom>
          <a:noFill/>
          <a:ln>
            <a:noFill/>
          </a:ln>
        </p:spPr>
      </p:pic>
      <p:sp>
        <p:nvSpPr>
          <p:cNvPr id="96" name="Google Shape;96;p17"/>
          <p:cNvSpPr txBox="1"/>
          <p:nvPr/>
        </p:nvSpPr>
        <p:spPr>
          <a:xfrm>
            <a:off x="5236900" y="4249625"/>
            <a:ext cx="3681600" cy="33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chemeClr val="dk1"/>
                </a:solidFill>
                <a:latin typeface="Old Standard TT"/>
                <a:ea typeface="Old Standard TT"/>
                <a:cs typeface="Old Standard TT"/>
                <a:sym typeface="Old Standard TT"/>
              </a:rPr>
              <a:t>https://www.stressebook.com/wp-content/uploads/2014/08/Airbus_A320_k.jpg</a:t>
            </a:r>
            <a:endParaRPr sz="700">
              <a:solidFill>
                <a:schemeClr val="dk1"/>
              </a:solidFill>
              <a:latin typeface="Old Standard TT"/>
              <a:ea typeface="Old Standard TT"/>
              <a:cs typeface="Old Standard TT"/>
              <a:sym typeface="Old Standard T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Mesh Methods Weaknesses</a:t>
            </a:r>
            <a:endParaRPr/>
          </a:p>
        </p:txBody>
      </p:sp>
      <p:sp>
        <p:nvSpPr>
          <p:cNvPr id="102" name="Google Shape;102;p18"/>
          <p:cNvSpPr txBox="1"/>
          <p:nvPr>
            <p:ph idx="1" type="body"/>
          </p:nvPr>
        </p:nvSpPr>
        <p:spPr>
          <a:xfrm>
            <a:off x="311700" y="1171600"/>
            <a:ext cx="4260300" cy="39720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Making a mesh from a given shape is not trivial</a:t>
            </a:r>
            <a:endParaRPr/>
          </a:p>
          <a:p>
            <a:pPr indent="-317500" lvl="1" marL="914400" rtl="0" algn="l">
              <a:spcBef>
                <a:spcPts val="0"/>
              </a:spcBef>
              <a:spcAft>
                <a:spcPts val="0"/>
              </a:spcAft>
              <a:buSzPts val="1400"/>
              <a:buChar char="○"/>
            </a:pPr>
            <a:r>
              <a:rPr lang="en"/>
              <a:t>There are multiple algorithms for mesh generation</a:t>
            </a:r>
            <a:endParaRPr/>
          </a:p>
          <a:p>
            <a:pPr indent="-317500" lvl="2" marL="1371600" rtl="0" algn="l">
              <a:spcBef>
                <a:spcPts val="0"/>
              </a:spcBef>
              <a:spcAft>
                <a:spcPts val="0"/>
              </a:spcAft>
              <a:buSzPts val="1400"/>
              <a:buChar char="■"/>
            </a:pPr>
            <a:r>
              <a:rPr lang="en"/>
              <a:t>Delauney </a:t>
            </a:r>
            <a:r>
              <a:rPr lang="en"/>
              <a:t>Triangulation</a:t>
            </a:r>
            <a:endParaRPr/>
          </a:p>
          <a:p>
            <a:pPr indent="-317500" lvl="1" marL="914400" rtl="0" algn="l">
              <a:spcBef>
                <a:spcPts val="0"/>
              </a:spcBef>
              <a:spcAft>
                <a:spcPts val="0"/>
              </a:spcAft>
              <a:buSzPts val="1400"/>
              <a:buChar char="○"/>
            </a:pPr>
            <a:r>
              <a:rPr lang="en"/>
              <a:t>Not always ideal for FEM analysis especially in the three dimensional case</a:t>
            </a:r>
            <a:endParaRPr/>
          </a:p>
          <a:p>
            <a:pPr indent="-317500" lvl="2" marL="1371600" rtl="0" algn="l">
              <a:spcBef>
                <a:spcPts val="0"/>
              </a:spcBef>
              <a:spcAft>
                <a:spcPts val="0"/>
              </a:spcAft>
              <a:buSzPts val="1400"/>
              <a:buChar char="■"/>
            </a:pPr>
            <a:r>
              <a:rPr lang="en"/>
              <a:t>Adaptive refinement</a:t>
            </a:r>
            <a:endParaRPr/>
          </a:p>
          <a:p>
            <a:pPr indent="-342900" lvl="0" marL="457200" rtl="0" algn="l">
              <a:spcBef>
                <a:spcPts val="0"/>
              </a:spcBef>
              <a:spcAft>
                <a:spcPts val="0"/>
              </a:spcAft>
              <a:buSzPts val="1800"/>
              <a:buChar char="●"/>
            </a:pPr>
            <a:r>
              <a:rPr lang="en"/>
              <a:t>Mesh based methods also cannot do perfect material simulations</a:t>
            </a:r>
            <a:endParaRPr/>
          </a:p>
          <a:p>
            <a:pPr indent="-317500" lvl="1" marL="914400" rtl="0" algn="l">
              <a:spcBef>
                <a:spcPts val="0"/>
              </a:spcBef>
              <a:spcAft>
                <a:spcPts val="0"/>
              </a:spcAft>
              <a:buSzPts val="1400"/>
              <a:buChar char="○"/>
            </a:pPr>
            <a:r>
              <a:rPr lang="en"/>
              <a:t>Crack growth</a:t>
            </a:r>
            <a:endParaRPr/>
          </a:p>
          <a:p>
            <a:pPr indent="-317500" lvl="1" marL="914400" rtl="0" algn="l">
              <a:spcBef>
                <a:spcPts val="0"/>
              </a:spcBef>
              <a:spcAft>
                <a:spcPts val="0"/>
              </a:spcAft>
              <a:buSzPts val="1400"/>
              <a:buChar char="○"/>
            </a:pPr>
            <a:r>
              <a:rPr lang="en"/>
              <a:t>Bending</a:t>
            </a:r>
            <a:endParaRPr/>
          </a:p>
          <a:p>
            <a:pPr indent="-317500" lvl="1" marL="914400" rtl="0" algn="l">
              <a:spcBef>
                <a:spcPts val="0"/>
              </a:spcBef>
              <a:spcAft>
                <a:spcPts val="0"/>
              </a:spcAft>
              <a:buSzPts val="1400"/>
              <a:buChar char="○"/>
            </a:pPr>
            <a:r>
              <a:rPr lang="en"/>
              <a:t>Nonlinear behaviour outside of element boundaries</a:t>
            </a:r>
            <a:endParaRPr/>
          </a:p>
          <a:p>
            <a:pPr indent="0" lvl="0" marL="0" rtl="0" algn="l">
              <a:spcBef>
                <a:spcPts val="1200"/>
              </a:spcBef>
              <a:spcAft>
                <a:spcPts val="1200"/>
              </a:spcAft>
              <a:buNone/>
            </a:pPr>
            <a:r>
              <a:t/>
            </a:r>
            <a:endParaRPr/>
          </a:p>
        </p:txBody>
      </p:sp>
      <p:grpSp>
        <p:nvGrpSpPr>
          <p:cNvPr id="103" name="Google Shape;103;p18"/>
          <p:cNvGrpSpPr/>
          <p:nvPr/>
        </p:nvGrpSpPr>
        <p:grpSpPr>
          <a:xfrm>
            <a:off x="5145962" y="1058230"/>
            <a:ext cx="3468554" cy="2811753"/>
            <a:chOff x="5147650" y="2571750"/>
            <a:chExt cx="2259350" cy="1961050"/>
          </a:xfrm>
        </p:grpSpPr>
        <p:pic>
          <p:nvPicPr>
            <p:cNvPr id="104" name="Google Shape;104;p18"/>
            <p:cNvPicPr preferRelativeResize="0"/>
            <p:nvPr/>
          </p:nvPicPr>
          <p:blipFill>
            <a:blip r:embed="rId3">
              <a:alphaModFix/>
            </a:blip>
            <a:stretch>
              <a:fillRect/>
            </a:stretch>
          </p:blipFill>
          <p:spPr>
            <a:xfrm>
              <a:off x="5147650" y="2571750"/>
              <a:ext cx="2259350" cy="1726150"/>
            </a:xfrm>
            <a:prstGeom prst="rect">
              <a:avLst/>
            </a:prstGeom>
            <a:noFill/>
            <a:ln>
              <a:noFill/>
            </a:ln>
          </p:spPr>
        </p:pic>
        <p:sp>
          <p:nvSpPr>
            <p:cNvPr id="105" name="Google Shape;105;p18"/>
            <p:cNvSpPr txBox="1"/>
            <p:nvPr/>
          </p:nvSpPr>
          <p:spPr>
            <a:xfrm>
              <a:off x="5147675" y="4297900"/>
              <a:ext cx="2259300" cy="23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dk1"/>
                  </a:solidFill>
                  <a:latin typeface="Old Standard TT"/>
                  <a:ea typeface="Old Standard TT"/>
                  <a:cs typeface="Old Standard TT"/>
                  <a:sym typeface="Old Standard TT"/>
                </a:rPr>
                <a:t>Adaptive</a:t>
              </a:r>
              <a:r>
                <a:rPr lang="en" sz="1300">
                  <a:solidFill>
                    <a:schemeClr val="dk1"/>
                  </a:solidFill>
                  <a:latin typeface="Old Standard TT"/>
                  <a:ea typeface="Old Standard TT"/>
                  <a:cs typeface="Old Standard TT"/>
                  <a:sym typeface="Old Standard TT"/>
                </a:rPr>
                <a:t> mesh refinement</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700">
                  <a:solidFill>
                    <a:schemeClr val="dk1"/>
                  </a:solidFill>
                  <a:latin typeface="Old Standard TT"/>
                  <a:ea typeface="Old Standard TT"/>
                  <a:cs typeface="Old Standard TT"/>
                  <a:sym typeface="Old Standard TT"/>
                </a:rPr>
                <a:t>https://commons.wikimedia.org/wiki/File:Adaptive_mesh_refinement_illustration.gif</a:t>
              </a:r>
              <a:endParaRPr sz="700">
                <a:solidFill>
                  <a:schemeClr val="dk1"/>
                </a:solidFill>
                <a:latin typeface="Old Standard TT"/>
                <a:ea typeface="Old Standard TT"/>
                <a:cs typeface="Old Standard TT"/>
                <a:sym typeface="Old Standard TT"/>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Meshfree Methods</a:t>
            </a:r>
            <a:endParaRPr/>
          </a:p>
        </p:txBody>
      </p:sp>
      <p:sp>
        <p:nvSpPr>
          <p:cNvPr id="111" name="Google Shape;111;p19"/>
          <p:cNvSpPr txBox="1"/>
          <p:nvPr>
            <p:ph idx="1" type="body"/>
          </p:nvPr>
        </p:nvSpPr>
        <p:spPr>
          <a:xfrm>
            <a:off x="311700" y="1171600"/>
            <a:ext cx="4260300" cy="3397200"/>
          </a:xfrm>
          <a:prstGeom prst="rect">
            <a:avLst/>
          </a:prstGeom>
        </p:spPr>
        <p:txBody>
          <a:bodyPr anchorCtr="0" anchor="t" bIns="91425" lIns="91425" spcFirstLastPara="1" rIns="91425" wrap="square" tIns="91425">
            <a:normAutofit fontScale="70000"/>
          </a:bodyPr>
          <a:lstStyle/>
          <a:p>
            <a:pPr indent="-328612" lvl="0" marL="457200" rtl="0" algn="l">
              <a:spcBef>
                <a:spcPts val="2400"/>
              </a:spcBef>
              <a:spcAft>
                <a:spcPts val="0"/>
              </a:spcAft>
              <a:buSzPct val="97826"/>
              <a:buChar char="●"/>
            </a:pPr>
            <a:r>
              <a:rPr lang="en" sz="2300"/>
              <a:t>Methods which do not create a mesh for use in calculation</a:t>
            </a:r>
            <a:endParaRPr sz="2300"/>
          </a:p>
          <a:p>
            <a:pPr indent="-328612" lvl="0" marL="457200" rtl="0" algn="l">
              <a:spcBef>
                <a:spcPts val="0"/>
              </a:spcBef>
              <a:spcAft>
                <a:spcPts val="0"/>
              </a:spcAft>
              <a:buSzPct val="97826"/>
              <a:buChar char="●"/>
            </a:pPr>
            <a:r>
              <a:rPr lang="en" sz="2300"/>
              <a:t>Instead analyse the whole set of points</a:t>
            </a:r>
            <a:endParaRPr sz="2300"/>
          </a:p>
          <a:p>
            <a:pPr indent="-328612" lvl="0" marL="457200" rtl="0" algn="l">
              <a:spcBef>
                <a:spcPts val="0"/>
              </a:spcBef>
              <a:spcAft>
                <a:spcPts val="0"/>
              </a:spcAft>
              <a:buSzPct val="97826"/>
              <a:buChar char="●"/>
            </a:pPr>
            <a:r>
              <a:rPr lang="en" sz="2300"/>
              <a:t>Examples include:</a:t>
            </a:r>
            <a:endParaRPr sz="2300"/>
          </a:p>
          <a:p>
            <a:pPr indent="-330835" lvl="1" marL="914400" rtl="0" algn="l">
              <a:spcBef>
                <a:spcPts val="0"/>
              </a:spcBef>
              <a:spcAft>
                <a:spcPts val="0"/>
              </a:spcAft>
              <a:buSzPct val="100000"/>
              <a:buChar char="○"/>
            </a:pPr>
            <a:r>
              <a:rPr lang="en" sz="2300"/>
              <a:t>Radial Basis Function Interpolation</a:t>
            </a:r>
            <a:endParaRPr sz="2300"/>
          </a:p>
          <a:p>
            <a:pPr indent="-330835" lvl="2" marL="1371600" rtl="0" algn="l">
              <a:spcBef>
                <a:spcPts val="0"/>
              </a:spcBef>
              <a:spcAft>
                <a:spcPts val="0"/>
              </a:spcAft>
              <a:buSzPct val="100000"/>
              <a:buChar char="■"/>
            </a:pPr>
            <a:r>
              <a:rPr lang="en" sz="2300"/>
              <a:t>No underlying grid or adjacency structure</a:t>
            </a:r>
            <a:endParaRPr sz="2300"/>
          </a:p>
          <a:p>
            <a:pPr indent="-330835" lvl="1" marL="914400" rtl="0" algn="l">
              <a:spcBef>
                <a:spcPts val="0"/>
              </a:spcBef>
              <a:spcAft>
                <a:spcPts val="0"/>
              </a:spcAft>
              <a:buSzPct val="100000"/>
              <a:buChar char="○"/>
            </a:pPr>
            <a:r>
              <a:rPr lang="en" sz="2300"/>
              <a:t>Smoothed Particle Hydrodynamics</a:t>
            </a:r>
            <a:endParaRPr sz="2300"/>
          </a:p>
          <a:p>
            <a:pPr indent="-330835" lvl="2" marL="1371600" rtl="0" algn="l">
              <a:spcBef>
                <a:spcPts val="0"/>
              </a:spcBef>
              <a:spcAft>
                <a:spcPts val="0"/>
              </a:spcAft>
              <a:buSzPct val="100000"/>
              <a:buChar char="■"/>
            </a:pPr>
            <a:r>
              <a:rPr lang="en" sz="2300"/>
              <a:t>Automatic conservation of mass</a:t>
            </a:r>
            <a:endParaRPr sz="2300"/>
          </a:p>
        </p:txBody>
      </p:sp>
      <p:pic>
        <p:nvPicPr>
          <p:cNvPr id="112" name="Google Shape;112;p19"/>
          <p:cNvPicPr preferRelativeResize="0"/>
          <p:nvPr/>
        </p:nvPicPr>
        <p:blipFill>
          <a:blip r:embed="rId3">
            <a:alphaModFix/>
          </a:blip>
          <a:stretch>
            <a:fillRect/>
          </a:stretch>
        </p:blipFill>
        <p:spPr>
          <a:xfrm>
            <a:off x="5332813" y="305875"/>
            <a:ext cx="3235400" cy="2423325"/>
          </a:xfrm>
          <a:prstGeom prst="rect">
            <a:avLst/>
          </a:prstGeom>
          <a:noFill/>
          <a:ln>
            <a:noFill/>
          </a:ln>
        </p:spPr>
      </p:pic>
      <p:pic>
        <p:nvPicPr>
          <p:cNvPr id="113" name="Google Shape;113;p19"/>
          <p:cNvPicPr preferRelativeResize="0"/>
          <p:nvPr/>
        </p:nvPicPr>
        <p:blipFill>
          <a:blip r:embed="rId4">
            <a:alphaModFix/>
          </a:blip>
          <a:stretch>
            <a:fillRect/>
          </a:stretch>
        </p:blipFill>
        <p:spPr>
          <a:xfrm>
            <a:off x="4899225" y="2868350"/>
            <a:ext cx="4102583" cy="1970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Mesh or Meshfree?</a:t>
            </a:r>
            <a:endParaRPr/>
          </a:p>
        </p:txBody>
      </p:sp>
      <p:sp>
        <p:nvSpPr>
          <p:cNvPr id="119" name="Google Shape;119;p20"/>
          <p:cNvSpPr txBox="1"/>
          <p:nvPr>
            <p:ph idx="1" type="body"/>
          </p:nvPr>
        </p:nvSpPr>
        <p:spPr>
          <a:xfrm>
            <a:off x="311700" y="1171600"/>
            <a:ext cx="42603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Meshed</a:t>
            </a:r>
            <a:endParaRPr/>
          </a:p>
          <a:p>
            <a:pPr indent="-317500" lvl="1" marL="914400" rtl="0" algn="l">
              <a:spcBef>
                <a:spcPts val="0"/>
              </a:spcBef>
              <a:spcAft>
                <a:spcPts val="0"/>
              </a:spcAft>
              <a:buSzPts val="1400"/>
              <a:buChar char="○"/>
            </a:pPr>
            <a:r>
              <a:rPr lang="en"/>
              <a:t>Fixed neighbors for every element</a:t>
            </a:r>
            <a:endParaRPr/>
          </a:p>
          <a:p>
            <a:pPr indent="-317500" lvl="1" marL="914400" rtl="0" algn="l">
              <a:spcBef>
                <a:spcPts val="0"/>
              </a:spcBef>
              <a:spcAft>
                <a:spcPts val="0"/>
              </a:spcAft>
              <a:buSzPts val="1400"/>
              <a:buChar char="○"/>
            </a:pPr>
            <a:r>
              <a:rPr lang="en"/>
              <a:t>Accurate for large shapes and deformations</a:t>
            </a:r>
            <a:endParaRPr/>
          </a:p>
          <a:p>
            <a:pPr indent="-317500" lvl="1" marL="914400" rtl="0" algn="l">
              <a:spcBef>
                <a:spcPts val="0"/>
              </a:spcBef>
              <a:spcAft>
                <a:spcPts val="0"/>
              </a:spcAft>
              <a:buSzPts val="1400"/>
              <a:buChar char="○"/>
            </a:pPr>
            <a:r>
              <a:rPr lang="en"/>
              <a:t>Cracks and discontinuities can only form around the boundaries between elements</a:t>
            </a:r>
            <a:endParaRPr/>
          </a:p>
          <a:p>
            <a:pPr indent="-317500" lvl="1" marL="914400" rtl="0" algn="l">
              <a:spcBef>
                <a:spcPts val="0"/>
              </a:spcBef>
              <a:spcAft>
                <a:spcPts val="0"/>
              </a:spcAft>
              <a:buSzPts val="1400"/>
              <a:buChar char="○"/>
            </a:pPr>
            <a:r>
              <a:rPr lang="en"/>
              <a:t>Can be computationally expensive to generate good meshes</a:t>
            </a:r>
            <a:endParaRPr/>
          </a:p>
          <a:p>
            <a:pPr indent="-317500" lvl="1" marL="914400" rtl="0" algn="l">
              <a:spcBef>
                <a:spcPts val="0"/>
              </a:spcBef>
              <a:spcAft>
                <a:spcPts val="0"/>
              </a:spcAft>
              <a:buSzPts val="1400"/>
              <a:buChar char="○"/>
            </a:pPr>
            <a:r>
              <a:rPr lang="en"/>
              <a:t>Boundary conditions easy to describe</a:t>
            </a:r>
            <a:endParaRPr/>
          </a:p>
          <a:p>
            <a:pPr indent="-317500" lvl="1" marL="914400" rtl="0" algn="l">
              <a:spcBef>
                <a:spcPts val="0"/>
              </a:spcBef>
              <a:spcAft>
                <a:spcPts val="0"/>
              </a:spcAft>
              <a:buSzPts val="1400"/>
              <a:buChar char="○"/>
            </a:pPr>
            <a:r>
              <a:rPr lang="en"/>
              <a:t>Doesn’t work well for high precision fluid simulation</a:t>
            </a:r>
            <a:endParaRPr/>
          </a:p>
        </p:txBody>
      </p:sp>
      <p:sp>
        <p:nvSpPr>
          <p:cNvPr id="120" name="Google Shape;120;p20"/>
          <p:cNvSpPr txBox="1"/>
          <p:nvPr>
            <p:ph idx="1" type="body"/>
          </p:nvPr>
        </p:nvSpPr>
        <p:spPr>
          <a:xfrm>
            <a:off x="4777100" y="1171600"/>
            <a:ext cx="42603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Mesh-free</a:t>
            </a:r>
            <a:endParaRPr/>
          </a:p>
          <a:p>
            <a:pPr indent="-317500" lvl="1" marL="914400" rtl="0" algn="l">
              <a:spcBef>
                <a:spcPts val="0"/>
              </a:spcBef>
              <a:spcAft>
                <a:spcPts val="0"/>
              </a:spcAft>
              <a:buSzPts val="1400"/>
              <a:buChar char="○"/>
            </a:pPr>
            <a:r>
              <a:rPr lang="en"/>
              <a:t>Simulates un-connected yet interacting elements</a:t>
            </a:r>
            <a:endParaRPr/>
          </a:p>
          <a:p>
            <a:pPr indent="-317500" lvl="1" marL="914400" rtl="0" algn="l">
              <a:spcBef>
                <a:spcPts val="0"/>
              </a:spcBef>
              <a:spcAft>
                <a:spcPts val="0"/>
              </a:spcAft>
              <a:buSzPts val="1400"/>
              <a:buChar char="○"/>
            </a:pPr>
            <a:r>
              <a:rPr lang="en"/>
              <a:t>Accurate for smaller scale fluid simulation or crack formation</a:t>
            </a:r>
            <a:endParaRPr/>
          </a:p>
          <a:p>
            <a:pPr indent="-317500" lvl="1" marL="914400" rtl="0" algn="l">
              <a:spcBef>
                <a:spcPts val="0"/>
              </a:spcBef>
              <a:spcAft>
                <a:spcPts val="0"/>
              </a:spcAft>
              <a:buSzPts val="1400"/>
              <a:buChar char="○"/>
            </a:pPr>
            <a:r>
              <a:rPr lang="en"/>
              <a:t>Can be expensive for large and detailed objects</a:t>
            </a:r>
            <a:endParaRPr/>
          </a:p>
          <a:p>
            <a:pPr indent="-317500" lvl="1" marL="914400" rtl="0" algn="l">
              <a:spcBef>
                <a:spcPts val="0"/>
              </a:spcBef>
              <a:spcAft>
                <a:spcPts val="0"/>
              </a:spcAft>
              <a:buSzPts val="1400"/>
              <a:buChar char="○"/>
            </a:pPr>
            <a:r>
              <a:rPr lang="en"/>
              <a:t>Boundaries are harder to set</a:t>
            </a:r>
            <a:endParaRPr/>
          </a:p>
          <a:p>
            <a:pPr indent="-317500" lvl="1" marL="914400" rtl="0" algn="l">
              <a:spcBef>
                <a:spcPts val="0"/>
              </a:spcBef>
              <a:spcAft>
                <a:spcPts val="0"/>
              </a:spcAft>
              <a:buSzPts val="1400"/>
              <a:buChar char="○"/>
            </a:pPr>
            <a:r>
              <a:rPr lang="en"/>
              <a:t>Doesn’t work for some types of simulation i.e. magnetic fields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2265150"/>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Questions?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Sources</a:t>
            </a:r>
            <a:endParaRPr/>
          </a:p>
        </p:txBody>
      </p:sp>
      <p:sp>
        <p:nvSpPr>
          <p:cNvPr id="131" name="Google Shape;131;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u="sng">
                <a:solidFill>
                  <a:schemeClr val="hlink"/>
                </a:solidFill>
                <a:hlinkClick r:id="rId3"/>
              </a:rPr>
              <a:t>Mesh Generation Algorithms</a:t>
            </a:r>
            <a:endParaRPr/>
          </a:p>
          <a:p>
            <a:pPr indent="-342900" lvl="0" marL="457200" rtl="0" algn="l">
              <a:spcBef>
                <a:spcPts val="0"/>
              </a:spcBef>
              <a:spcAft>
                <a:spcPts val="0"/>
              </a:spcAft>
              <a:buSzPts val="1800"/>
              <a:buChar char="●"/>
            </a:pPr>
            <a:r>
              <a:rPr lang="en" u="sng">
                <a:solidFill>
                  <a:schemeClr val="hlink"/>
                </a:solidFill>
                <a:hlinkClick r:id="rId4"/>
              </a:rPr>
              <a:t>Finite Element Method</a:t>
            </a:r>
            <a:endParaRPr/>
          </a:p>
          <a:p>
            <a:pPr indent="-342900" lvl="0" marL="457200" rtl="0" algn="l">
              <a:spcBef>
                <a:spcPts val="0"/>
              </a:spcBef>
              <a:spcAft>
                <a:spcPts val="0"/>
              </a:spcAft>
              <a:buSzPts val="1800"/>
              <a:buChar char="●"/>
            </a:pPr>
            <a:r>
              <a:rPr lang="en" u="sng">
                <a:solidFill>
                  <a:schemeClr val="hlink"/>
                </a:solidFill>
                <a:hlinkClick r:id="rId5"/>
              </a:rPr>
              <a:t>Mesh-free Methods</a:t>
            </a:r>
            <a:endParaRPr/>
          </a:p>
          <a:p>
            <a:pPr indent="-342900" lvl="0" marL="457200" rtl="0" algn="l">
              <a:spcBef>
                <a:spcPts val="0"/>
              </a:spcBef>
              <a:spcAft>
                <a:spcPts val="0"/>
              </a:spcAft>
              <a:buSzPts val="1800"/>
              <a:buChar char="●"/>
            </a:pPr>
            <a:r>
              <a:rPr lang="en" u="sng">
                <a:solidFill>
                  <a:schemeClr val="hlink"/>
                </a:solidFill>
                <a:hlinkClick r:id="rId6"/>
              </a:rPr>
              <a:t>Smoothed Particle </a:t>
            </a:r>
            <a:r>
              <a:rPr lang="en" u="sng">
                <a:solidFill>
                  <a:schemeClr val="hlink"/>
                </a:solidFill>
                <a:hlinkClick r:id="rId7"/>
              </a:rPr>
              <a:t>Hydrodynamics</a:t>
            </a:r>
            <a:endParaRPr/>
          </a:p>
          <a:p>
            <a:pPr indent="-342900" lvl="0" marL="457200" rtl="0" algn="l">
              <a:spcBef>
                <a:spcPts val="0"/>
              </a:spcBef>
              <a:spcAft>
                <a:spcPts val="0"/>
              </a:spcAft>
              <a:buSzPts val="1800"/>
              <a:buChar char="●"/>
            </a:pPr>
            <a:r>
              <a:rPr lang="en" u="sng">
                <a:solidFill>
                  <a:schemeClr val="hlink"/>
                </a:solidFill>
                <a:hlinkClick r:id="rId8"/>
              </a:rPr>
              <a:t>Information on Mesh-Free Methods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